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64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hanasri-thota/DBS-DS_PROJECT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47891" y="372884"/>
            <a:ext cx="12115799" cy="2509213"/>
          </a:xfrm>
        </p:spPr>
        <p:txBody>
          <a:bodyPr/>
          <a:lstStyle/>
          <a:p>
            <a:r>
              <a:rPr sz="4000">
                <a:latin typeface="Century Schoolbook"/>
              </a:rPr>
              <a:t>VotingHub – Online Voting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667" y="2800000"/>
            <a:ext cx="11500000" cy="3900000"/>
          </a:xfrm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 dirty="0"/>
              <a:t>Online Voting System with Aadhaar-Style OTP Verification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 dirty="0"/>
              <a:t>[FINAL REVIEW-2]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dirty="0"/>
              <a:t>DATABASE SYSTEMS ENGINEERING AND DISTRIBUTED BACKEND DEVELOPMENT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dirty="0"/>
              <a:t>Course Code: </a:t>
            </a:r>
            <a:r>
              <a:rPr sz="1400" b="0" dirty="0"/>
              <a:t>25CS1302E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dirty="0"/>
              <a:t>Section: </a:t>
            </a:r>
            <a:r>
              <a:rPr sz="1400" b="0" dirty="0"/>
              <a:t>12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400" b="1" dirty="0"/>
              <a:t>Team No.: </a:t>
            </a:r>
            <a:r>
              <a:rPr sz="1400" b="0" dirty="0"/>
              <a:t>9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dirty="0"/>
              <a:t>Team Members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262626"/>
                </a:solidFill>
              </a:rPr>
              <a:t>2520090132 - Keerthana G.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262626"/>
                </a:solidFill>
              </a:rPr>
              <a:t>2520090121 - Thota Jhana Sri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262626"/>
                </a:solidFill>
              </a:rPr>
              <a:t>2520090126 - </a:t>
            </a:r>
            <a:r>
              <a:rPr sz="1400" b="1" dirty="0" err="1">
                <a:solidFill>
                  <a:srgbClr val="262626"/>
                </a:solidFill>
              </a:rPr>
              <a:t>Sutte</a:t>
            </a:r>
            <a:r>
              <a:rPr sz="1400" b="1" dirty="0">
                <a:solidFill>
                  <a:srgbClr val="262626"/>
                </a:solidFill>
              </a:rPr>
              <a:t> Alekhya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4789" y="-4541"/>
            <a:ext cx="1789192" cy="17709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47120" cy="731520"/>
          </a:xfrm>
        </p:spPr>
        <p:txBody>
          <a:bodyPr anchor="ctr"/>
          <a:lstStyle/>
          <a:p>
            <a:pPr algn="l"/>
            <a:r>
              <a:rPr sz="2800"/>
              <a:t>Introduction &amp; Objectives</a:t>
            </a:r>
          </a:p>
        </p:txBody>
      </p:sp>
      <p:sp>
        <p:nvSpPr>
          <p:cNvPr id="3" name="Intro card"/>
          <p:cNvSpPr/>
          <p:nvPr/>
        </p:nvSpPr>
        <p:spPr>
          <a:xfrm>
            <a:off x="457200" y="1188720"/>
            <a:ext cx="548640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bjectives card"/>
          <p:cNvSpPr/>
          <p:nvPr/>
        </p:nvSpPr>
        <p:spPr>
          <a:xfrm>
            <a:off x="6245352" y="1188720"/>
            <a:ext cx="548640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120640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cap="all">
                <a:solidFill>
                  <a:srgbClr val="355071"/>
                </a:solidFill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120640" cy="35661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marL="228600" indent="-228600" algn="l">
              <a:spcAft>
                <a:spcPts val="900"/>
              </a:spcAft>
              <a:buFont typeface="Arial"/>
              <a:buChar char="•"/>
            </a:pPr>
            <a:r>
              <a:rPr sz="1400" b="0" cap="all">
                <a:solidFill>
                  <a:srgbClr val="262626"/>
                </a:solidFill>
              </a:rPr>
              <a:t>VotingHub is a web-based online voting system.</a:t>
            </a:r>
          </a:p>
          <a:p>
            <a:pPr marL="228600" indent="-228600" algn="l">
              <a:spcAft>
                <a:spcPts val="900"/>
              </a:spcAft>
              <a:buFont typeface="Arial"/>
              <a:buChar char="•"/>
            </a:pPr>
            <a:r>
              <a:rPr sz="1400" b="0" cap="all">
                <a:solidFill>
                  <a:srgbClr val="262626"/>
                </a:solidFill>
              </a:rPr>
              <a:t>Provides digital voter registration and authentication.</a:t>
            </a:r>
          </a:p>
          <a:p>
            <a:pPr marL="228600" indent="-228600" algn="l">
              <a:spcAft>
                <a:spcPts val="900"/>
              </a:spcAft>
              <a:buFont typeface="Arial"/>
              <a:buChar char="•"/>
            </a:pPr>
            <a:r>
              <a:rPr sz="1400" b="0" cap="all">
                <a:solidFill>
                  <a:srgbClr val="262626"/>
                </a:solidFill>
              </a:rPr>
              <a:t>OTP verification adds an additional authentication layer.</a:t>
            </a:r>
          </a:p>
          <a:p>
            <a:pPr marL="228600" indent="-228600" algn="l">
              <a:spcAft>
                <a:spcPts val="900"/>
              </a:spcAft>
              <a:buFont typeface="Arial"/>
              <a:buChar char="•"/>
            </a:pPr>
            <a:r>
              <a:rPr sz="1400" b="0" cap="all">
                <a:solidFill>
                  <a:srgbClr val="262626"/>
                </a:solidFill>
              </a:rPr>
              <a:t>Verified voters can access the voting interface.</a:t>
            </a:r>
          </a:p>
          <a:p>
            <a:pPr marL="228600" indent="-228600" algn="l">
              <a:spcAft>
                <a:spcPts val="900"/>
              </a:spcAft>
              <a:buFont typeface="Arial"/>
              <a:buChar char="•"/>
            </a:pPr>
            <a:r>
              <a:rPr sz="1400" b="0" cap="all">
                <a:solidFill>
                  <a:srgbClr val="262626"/>
                </a:solidFill>
              </a:rPr>
              <a:t>Elections and candidates are managed through the system.</a:t>
            </a:r>
          </a:p>
          <a:p>
            <a:pPr marL="228600" indent="-228600" algn="l">
              <a:spcAft>
                <a:spcPts val="900"/>
              </a:spcAft>
              <a:buFont typeface="Arial"/>
              <a:buChar char="•"/>
            </a:pPr>
            <a:r>
              <a:rPr sz="1400" b="0" cap="all">
                <a:solidFill>
                  <a:srgbClr val="262626"/>
                </a:solidFill>
              </a:rPr>
              <a:t>Maintains controlled voting and result management.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28232" y="1280160"/>
            <a:ext cx="5120640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cap="all">
                <a:solidFill>
                  <a:srgbClr val="355071"/>
                </a:solidFill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28232" y="1737360"/>
            <a:ext cx="5120640" cy="35661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marL="228600" indent="-228600" algn="l">
              <a:spcAft>
                <a:spcPts val="2200"/>
              </a:spcAft>
              <a:buFont typeface="Arial"/>
              <a:buChar char="•"/>
            </a:pPr>
            <a:r>
              <a:rPr sz="1400" b="0" cap="all">
                <a:solidFill>
                  <a:srgbClr val="262626"/>
                </a:solidFill>
              </a:rPr>
              <a:t>Authenticate voters using OTP verification.</a:t>
            </a:r>
          </a:p>
          <a:p>
            <a:pPr marL="228600" indent="-228600" algn="l">
              <a:spcAft>
                <a:spcPts val="2200"/>
              </a:spcAft>
              <a:buFont typeface="Arial"/>
              <a:buChar char="•"/>
            </a:pPr>
            <a:r>
              <a:rPr sz="1400" b="0" cap="all">
                <a:solidFill>
                  <a:srgbClr val="262626"/>
                </a:solidFill>
              </a:rPr>
              <a:t>Provide a simple online voting interface.</a:t>
            </a:r>
          </a:p>
          <a:p>
            <a:pPr marL="228600" indent="-228600" algn="l">
              <a:spcAft>
                <a:spcPts val="2200"/>
              </a:spcAft>
              <a:buFont typeface="Arial"/>
              <a:buChar char="•"/>
            </a:pPr>
            <a:r>
              <a:rPr sz="1400" b="0" cap="all">
                <a:solidFill>
                  <a:srgbClr val="262626"/>
                </a:solidFill>
              </a:rPr>
              <a:t>Allow only verified voters to vote.</a:t>
            </a:r>
          </a:p>
          <a:p>
            <a:pPr marL="228600" indent="-228600" algn="l">
              <a:spcAft>
                <a:spcPts val="2200"/>
              </a:spcAft>
              <a:buFont typeface="Arial"/>
              <a:buChar char="•"/>
            </a:pPr>
            <a:r>
              <a:rPr sz="1400" b="0" cap="all">
                <a:solidFill>
                  <a:srgbClr val="262626"/>
                </a:solidFill>
              </a:rPr>
              <a:t>Prevent multiple voting in the same election.</a:t>
            </a:r>
          </a:p>
          <a:p>
            <a:pPr marL="228600" indent="-228600" algn="l">
              <a:spcAft>
                <a:spcPts val="2200"/>
              </a:spcAft>
              <a:buFont typeface="Arial"/>
              <a:buChar char="•"/>
            </a:pPr>
            <a:r>
              <a:rPr sz="1400" b="0" cap="all">
                <a:solidFill>
                  <a:srgbClr val="262626"/>
                </a:solidFill>
              </a:rPr>
              <a:t>Maintain accurate voting records.</a:t>
            </a:r>
          </a:p>
          <a:p>
            <a:pPr marL="228600" indent="-228600" algn="l">
              <a:spcAft>
                <a:spcPts val="2200"/>
              </a:spcAft>
              <a:buFont typeface="Arial"/>
              <a:buChar char="•"/>
            </a:pPr>
            <a:r>
              <a:rPr sz="1400" b="0" cap="all">
                <a:solidFill>
                  <a:srgbClr val="262626"/>
                </a:solidFill>
              </a:rPr>
              <a:t>Simplify election and result management.</a:t>
            </a:r>
          </a:p>
        </p:txBody>
      </p:sp>
      <p:sp>
        <p:nvSpPr>
          <p:cNvPr id="9" name="Key idea"/>
          <p:cNvSpPr/>
          <p:nvPr/>
        </p:nvSpPr>
        <p:spPr>
          <a:xfrm>
            <a:off x="457200" y="5577840"/>
            <a:ext cx="11274552" cy="548640"/>
          </a:xfrm>
          <a:prstGeom prst="roundRect">
            <a:avLst>
              <a:gd name="adj" fmla="val 8000"/>
            </a:avLst>
          </a:prstGeom>
          <a:solidFill>
            <a:srgbClr val="E6ECF3"/>
          </a:solidFill>
          <a:ln w="9525">
            <a:solidFill>
              <a:srgbClr val="3550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1400" b="1" cap="all">
                <a:solidFill>
                  <a:srgbClr val="262626"/>
                </a:solidFill>
              </a:rPr>
              <a:t>Key Idea:  </a:t>
            </a:r>
            <a:r>
              <a:rPr sz="1400" b="0" cap="all">
                <a:solidFill>
                  <a:srgbClr val="262626"/>
                </a:solidFill>
              </a:rPr>
              <a:t>Secure Authentication + Database Management + Online Voting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47120" cy="731520"/>
          </a:xfrm>
        </p:spPr>
        <p:txBody>
          <a:bodyPr anchor="ctr"/>
          <a:lstStyle/>
          <a:p>
            <a:pPr algn="l"/>
            <a:r>
              <a:rPr sz="2800"/>
              <a:t>Final System Architecture</a:t>
            </a:r>
          </a:p>
        </p:txBody>
      </p:sp>
      <p:sp>
        <p:nvSpPr>
          <p:cNvPr id="3" name="React frontend"/>
          <p:cNvSpPr/>
          <p:nvPr/>
        </p:nvSpPr>
        <p:spPr>
          <a:xfrm>
            <a:off x="4498848" y="1143000"/>
            <a:ext cx="3200400" cy="640080"/>
          </a:xfrm>
          <a:prstGeom prst="roundRect">
            <a:avLst>
              <a:gd name="adj" fmla="val 8000"/>
            </a:avLst>
          </a:prstGeom>
          <a:solidFill>
            <a:srgbClr val="355071"/>
          </a:solidFill>
          <a:ln w="9525">
            <a:solidFill>
              <a:srgbClr val="3550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</a:rPr>
              <a:t>REACT FRONTEND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</a:rPr>
              <a:t>:5174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9048" y="1783080"/>
            <a:ext cx="0" cy="365760"/>
          </a:xfrm>
          <a:prstGeom prst="line">
            <a:avLst/>
          </a:prstGeom>
          <a:ln w="19050">
            <a:solidFill>
              <a:srgbClr val="3550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75688" y="2148840"/>
            <a:ext cx="8046720" cy="0"/>
          </a:xfrm>
          <a:prstGeom prst="line">
            <a:avLst/>
          </a:prstGeom>
          <a:ln w="19050">
            <a:solidFill>
              <a:srgbClr val="3550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75688" y="2148840"/>
            <a:ext cx="0" cy="365760"/>
          </a:xfrm>
          <a:prstGeom prst="line">
            <a:avLst/>
          </a:prstGeom>
          <a:ln w="19050">
            <a:solidFill>
              <a:srgbClr val="3550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99048" y="2148840"/>
            <a:ext cx="0" cy="365760"/>
          </a:xfrm>
          <a:prstGeom prst="line">
            <a:avLst/>
          </a:prstGeom>
          <a:ln w="19050">
            <a:solidFill>
              <a:srgbClr val="3550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122408" y="2148840"/>
            <a:ext cx="0" cy="365760"/>
          </a:xfrm>
          <a:prstGeom prst="line">
            <a:avLst/>
          </a:prstGeom>
          <a:ln w="19050">
            <a:solidFill>
              <a:srgbClr val="3550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Auth Service"/>
          <p:cNvSpPr/>
          <p:nvPr/>
        </p:nvSpPr>
        <p:spPr>
          <a:xfrm>
            <a:off x="475488" y="2514600"/>
            <a:ext cx="3200400" cy="685800"/>
          </a:xfrm>
          <a:prstGeom prst="rect">
            <a:avLst/>
          </a:prstGeom>
          <a:solidFill>
            <a:srgbClr val="355071"/>
          </a:solidFill>
          <a:ln w="9525">
            <a:solidFill>
              <a:srgbClr val="3550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AUTH SERVICE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</a:rPr>
              <a:t>:8081</a:t>
            </a:r>
          </a:p>
        </p:txBody>
      </p:sp>
      <p:sp>
        <p:nvSpPr>
          <p:cNvPr id="10" name="Auth Service responsibilities"/>
          <p:cNvSpPr/>
          <p:nvPr/>
        </p:nvSpPr>
        <p:spPr>
          <a:xfrm>
            <a:off x="475488" y="3200400"/>
            <a:ext cx="32004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3291840"/>
            <a:ext cx="3017520" cy="1645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sz="1300" b="0" cap="all">
                <a:solidFill>
                  <a:srgbClr val="262626"/>
                </a:solidFill>
              </a:rPr>
              <a:t>Registration</a:t>
            </a:r>
          </a:p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sz="1300" b="0" cap="all">
                <a:solidFill>
                  <a:srgbClr val="262626"/>
                </a:solidFill>
              </a:rPr>
              <a:t>OTP</a:t>
            </a:r>
          </a:p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sz="1300" b="0" cap="all">
                <a:solidFill>
                  <a:srgbClr val="262626"/>
                </a:solidFill>
              </a:rPr>
              <a:t>Login</a:t>
            </a:r>
          </a:p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sz="1300" b="0" cap="all">
                <a:solidFill>
                  <a:srgbClr val="262626"/>
                </a:solidFill>
              </a:rPr>
              <a:t>Authentication</a:t>
            </a:r>
          </a:p>
        </p:txBody>
      </p:sp>
      <p:sp>
        <p:nvSpPr>
          <p:cNvPr id="12" name="Election Service"/>
          <p:cNvSpPr/>
          <p:nvPr/>
        </p:nvSpPr>
        <p:spPr>
          <a:xfrm>
            <a:off x="4498848" y="2514600"/>
            <a:ext cx="3200400" cy="685800"/>
          </a:xfrm>
          <a:prstGeom prst="rect">
            <a:avLst/>
          </a:prstGeom>
          <a:solidFill>
            <a:srgbClr val="355071"/>
          </a:solidFill>
          <a:ln w="9525">
            <a:solidFill>
              <a:srgbClr val="3550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ELECTION SERVICE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</a:rPr>
              <a:t>:8082</a:t>
            </a:r>
          </a:p>
        </p:txBody>
      </p:sp>
      <p:sp>
        <p:nvSpPr>
          <p:cNvPr id="13" name="Election Service responsibilities"/>
          <p:cNvSpPr/>
          <p:nvPr/>
        </p:nvSpPr>
        <p:spPr>
          <a:xfrm>
            <a:off x="4498848" y="3200400"/>
            <a:ext cx="32004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3291840"/>
            <a:ext cx="3017520" cy="1645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sz="1300" b="0" cap="all">
                <a:solidFill>
                  <a:srgbClr val="262626"/>
                </a:solidFill>
              </a:rPr>
              <a:t>Elections</a:t>
            </a:r>
          </a:p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sz="1300" b="0" cap="all">
                <a:solidFill>
                  <a:srgbClr val="262626"/>
                </a:solidFill>
              </a:rPr>
              <a:t>Candidates</a:t>
            </a:r>
          </a:p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sz="1300" b="0" cap="all">
                <a:solidFill>
                  <a:srgbClr val="262626"/>
                </a:solidFill>
              </a:rPr>
              <a:t>Election status</a:t>
            </a:r>
          </a:p>
        </p:txBody>
      </p:sp>
      <p:sp>
        <p:nvSpPr>
          <p:cNvPr id="15" name="Voting Service"/>
          <p:cNvSpPr/>
          <p:nvPr/>
        </p:nvSpPr>
        <p:spPr>
          <a:xfrm>
            <a:off x="8522208" y="2514600"/>
            <a:ext cx="3200400" cy="685800"/>
          </a:xfrm>
          <a:prstGeom prst="rect">
            <a:avLst/>
          </a:prstGeom>
          <a:solidFill>
            <a:srgbClr val="355071"/>
          </a:solidFill>
          <a:ln w="9525">
            <a:solidFill>
              <a:srgbClr val="3550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VOTING SERVICE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</a:rPr>
              <a:t>:8083</a:t>
            </a:r>
          </a:p>
        </p:txBody>
      </p:sp>
      <p:sp>
        <p:nvSpPr>
          <p:cNvPr id="16" name="Voting Service responsibilities"/>
          <p:cNvSpPr/>
          <p:nvPr/>
        </p:nvSpPr>
        <p:spPr>
          <a:xfrm>
            <a:off x="8522208" y="3200400"/>
            <a:ext cx="32004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13648" y="3291840"/>
            <a:ext cx="3017520" cy="1645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sz="1300" b="0" cap="all">
                <a:solidFill>
                  <a:srgbClr val="262626"/>
                </a:solidFill>
              </a:rPr>
              <a:t>Eligibility</a:t>
            </a:r>
          </a:p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sz="1300" b="0" cap="all">
                <a:solidFill>
                  <a:srgbClr val="262626"/>
                </a:solidFill>
              </a:rPr>
              <a:t>Vote processing</a:t>
            </a:r>
          </a:p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sz="1300" b="0" cap="all">
                <a:solidFill>
                  <a:srgbClr val="262626"/>
                </a:solidFill>
              </a:rPr>
              <a:t>Duplicate-vote prevention</a:t>
            </a:r>
          </a:p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sz="1300" b="0" cap="all">
                <a:solidFill>
                  <a:srgbClr val="262626"/>
                </a:solidFill>
              </a:rPr>
              <a:t>Voting authorization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7699248" y="2857500"/>
            <a:ext cx="822960" cy="0"/>
          </a:xfrm>
          <a:prstGeom prst="line">
            <a:avLst/>
          </a:prstGeom>
          <a:ln w="25400">
            <a:solidFill>
              <a:srgbClr val="CE66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662672" y="2514600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CE6633"/>
                </a:solidFill>
              </a:rPr>
              <a:t>REST API</a:t>
            </a:r>
          </a:p>
        </p:txBody>
      </p:sp>
      <p:sp>
        <p:nvSpPr>
          <p:cNvPr id="20" name="Architecture note"/>
          <p:cNvSpPr/>
          <p:nvPr/>
        </p:nvSpPr>
        <p:spPr>
          <a:xfrm>
            <a:off x="475488" y="5257800"/>
            <a:ext cx="11247120" cy="731520"/>
          </a:xfrm>
          <a:prstGeom prst="roundRect">
            <a:avLst>
              <a:gd name="adj" fmla="val 8000"/>
            </a:avLst>
          </a:prstGeom>
          <a:solidFill>
            <a:srgbClr val="E6ECF3"/>
          </a:solidFill>
          <a:ln w="9525">
            <a:solidFill>
              <a:srgbClr val="3550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62626"/>
                </a:solidFill>
              </a:rPr>
              <a:t>Voting Service → Election Service: </a:t>
            </a:r>
            <a:r>
              <a:rPr sz="1300" b="0">
                <a:solidFill>
                  <a:srgbClr val="262626"/>
                </a:solidFill>
              </a:rPr>
              <a:t>services communicate through REST APIs; no service accesses another service's database directly.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47120" cy="731520"/>
          </a:xfrm>
        </p:spPr>
        <p:txBody>
          <a:bodyPr anchor="ctr"/>
          <a:lstStyle/>
          <a:p>
            <a:pPr algn="l"/>
            <a:r>
              <a:rPr sz="2800"/>
              <a:t>Database Design</a:t>
            </a:r>
          </a:p>
        </p:txBody>
      </p:sp>
      <p:sp>
        <p:nvSpPr>
          <p:cNvPr id="3" name="votehub_auth"/>
          <p:cNvSpPr/>
          <p:nvPr/>
        </p:nvSpPr>
        <p:spPr>
          <a:xfrm>
            <a:off x="457200" y="1143000"/>
            <a:ext cx="3657600" cy="384048"/>
          </a:xfrm>
          <a:prstGeom prst="rect">
            <a:avLst/>
          </a:prstGeom>
          <a:solidFill>
            <a:srgbClr val="355071"/>
          </a:solidFill>
          <a:ln w="9525">
            <a:solidFill>
              <a:srgbClr val="3550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</a:rPr>
              <a:t>votehub_auth</a:t>
            </a:r>
          </a:p>
        </p:txBody>
      </p:sp>
      <p:sp>
        <p:nvSpPr>
          <p:cNvPr id="4" name="Users / Voter"/>
          <p:cNvSpPr/>
          <p:nvPr/>
        </p:nvSpPr>
        <p:spPr>
          <a:xfrm>
            <a:off x="457200" y="1527048"/>
            <a:ext cx="3657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73152" bIns="27432" rtlCol="0" anchor="ctr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62626"/>
                </a:solidFill>
              </a:rPr>
              <a:t>Users / Voter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7F7F7F"/>
                </a:solidFill>
              </a:rPr>
              <a:t>identity, status, hashed password</a:t>
            </a:r>
          </a:p>
        </p:txBody>
      </p:sp>
      <p:sp>
        <p:nvSpPr>
          <p:cNvPr id="5" name="OTP Verifications"/>
          <p:cNvSpPr/>
          <p:nvPr/>
        </p:nvSpPr>
        <p:spPr>
          <a:xfrm>
            <a:off x="457200" y="2093976"/>
            <a:ext cx="3657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73152" bIns="27432" rtlCol="0" anchor="ctr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62626"/>
                </a:solidFill>
              </a:rPr>
              <a:t>OTP Verifications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7F7F7F"/>
                </a:solidFill>
              </a:rPr>
              <a:t>OTP code, expiry, attempts</a:t>
            </a:r>
          </a:p>
        </p:txBody>
      </p:sp>
      <p:sp>
        <p:nvSpPr>
          <p:cNvPr id="6" name="Sessions"/>
          <p:cNvSpPr/>
          <p:nvPr/>
        </p:nvSpPr>
        <p:spPr>
          <a:xfrm>
            <a:off x="457200" y="2660904"/>
            <a:ext cx="3657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73152" bIns="27432" rtlCol="0" anchor="ctr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62626"/>
                </a:solidFill>
              </a:rPr>
              <a:t>Sessions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7F7F7F"/>
                </a:solidFill>
              </a:rPr>
              <a:t>login sessions</a:t>
            </a:r>
          </a:p>
        </p:txBody>
      </p:sp>
      <p:sp>
        <p:nvSpPr>
          <p:cNvPr id="7" name="Notifications"/>
          <p:cNvSpPr/>
          <p:nvPr/>
        </p:nvSpPr>
        <p:spPr>
          <a:xfrm>
            <a:off x="457200" y="3227832"/>
            <a:ext cx="3657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73152" bIns="27432" rtlCol="0" anchor="ctr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62626"/>
                </a:solidFill>
              </a:rPr>
              <a:t>Notifications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7F7F7F"/>
                </a:solidFill>
              </a:rPr>
              <a:t>user notifications</a:t>
            </a:r>
          </a:p>
        </p:txBody>
      </p:sp>
      <p:sp>
        <p:nvSpPr>
          <p:cNvPr id="8" name="votehub_election"/>
          <p:cNvSpPr/>
          <p:nvPr/>
        </p:nvSpPr>
        <p:spPr>
          <a:xfrm>
            <a:off x="4270248" y="1143000"/>
            <a:ext cx="3657600" cy="384048"/>
          </a:xfrm>
          <a:prstGeom prst="rect">
            <a:avLst/>
          </a:prstGeom>
          <a:solidFill>
            <a:srgbClr val="355071"/>
          </a:solidFill>
          <a:ln w="9525">
            <a:solidFill>
              <a:srgbClr val="3550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</a:rPr>
              <a:t>votehub_election</a:t>
            </a:r>
          </a:p>
        </p:txBody>
      </p:sp>
      <p:sp>
        <p:nvSpPr>
          <p:cNvPr id="9" name="Elections"/>
          <p:cNvSpPr/>
          <p:nvPr/>
        </p:nvSpPr>
        <p:spPr>
          <a:xfrm>
            <a:off x="4270248" y="1527048"/>
            <a:ext cx="3657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73152" bIns="27432" rtlCol="0" anchor="ctr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62626"/>
                </a:solidFill>
              </a:rPr>
              <a:t>Elections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7F7F7F"/>
                </a:solidFill>
              </a:rPr>
              <a:t>election details and status</a:t>
            </a:r>
          </a:p>
        </p:txBody>
      </p:sp>
      <p:sp>
        <p:nvSpPr>
          <p:cNvPr id="10" name="Candidates"/>
          <p:cNvSpPr/>
          <p:nvPr/>
        </p:nvSpPr>
        <p:spPr>
          <a:xfrm>
            <a:off x="4270248" y="2093976"/>
            <a:ext cx="3657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73152" bIns="27432" rtlCol="0" anchor="ctr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62626"/>
                </a:solidFill>
              </a:rPr>
              <a:t>Candidates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7F7F7F"/>
                </a:solidFill>
              </a:rPr>
              <a:t>candidates per election (FK)</a:t>
            </a:r>
          </a:p>
        </p:txBody>
      </p:sp>
      <p:sp>
        <p:nvSpPr>
          <p:cNvPr id="11" name="Election Events"/>
          <p:cNvSpPr/>
          <p:nvPr/>
        </p:nvSpPr>
        <p:spPr>
          <a:xfrm>
            <a:off x="4270248" y="2660904"/>
            <a:ext cx="3657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73152" bIns="27432" rtlCol="0" anchor="ctr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62626"/>
                </a:solidFill>
              </a:rPr>
              <a:t>Election Events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7F7F7F"/>
                </a:solidFill>
              </a:rPr>
              <a:t>election lifecycle events</a:t>
            </a:r>
          </a:p>
        </p:txBody>
      </p:sp>
      <p:sp>
        <p:nvSpPr>
          <p:cNvPr id="12" name="System Settings"/>
          <p:cNvSpPr/>
          <p:nvPr/>
        </p:nvSpPr>
        <p:spPr>
          <a:xfrm>
            <a:off x="4270248" y="3227832"/>
            <a:ext cx="3657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73152" bIns="27432" rtlCol="0" anchor="ctr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62626"/>
                </a:solidFill>
              </a:rPr>
              <a:t>System Settings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7F7F7F"/>
                </a:solidFill>
              </a:rPr>
              <a:t>system configuration</a:t>
            </a:r>
          </a:p>
        </p:txBody>
      </p:sp>
      <p:sp>
        <p:nvSpPr>
          <p:cNvPr id="13" name="votehub_voting"/>
          <p:cNvSpPr/>
          <p:nvPr/>
        </p:nvSpPr>
        <p:spPr>
          <a:xfrm>
            <a:off x="8074152" y="1143000"/>
            <a:ext cx="3657600" cy="384048"/>
          </a:xfrm>
          <a:prstGeom prst="rect">
            <a:avLst/>
          </a:prstGeom>
          <a:solidFill>
            <a:srgbClr val="355071"/>
          </a:solidFill>
          <a:ln w="9525">
            <a:solidFill>
              <a:srgbClr val="3550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</a:rPr>
              <a:t>votehub_voting</a:t>
            </a:r>
          </a:p>
        </p:txBody>
      </p:sp>
      <p:sp>
        <p:nvSpPr>
          <p:cNvPr id="14" name="Voting Authorizations"/>
          <p:cNvSpPr/>
          <p:nvPr/>
        </p:nvSpPr>
        <p:spPr>
          <a:xfrm>
            <a:off x="8074152" y="1527048"/>
            <a:ext cx="3657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73152" bIns="27432" rtlCol="0" anchor="ctr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62626"/>
                </a:solidFill>
              </a:rPr>
              <a:t>Voting Authorizations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7F7F7F"/>
                </a:solidFill>
              </a:rPr>
              <a:t>per voter, per election; used flag</a:t>
            </a:r>
          </a:p>
        </p:txBody>
      </p:sp>
      <p:sp>
        <p:nvSpPr>
          <p:cNvPr id="15" name="Votes"/>
          <p:cNvSpPr/>
          <p:nvPr/>
        </p:nvSpPr>
        <p:spPr>
          <a:xfrm>
            <a:off x="8074152" y="2093976"/>
            <a:ext cx="3657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73152" bIns="27432" rtlCol="0" anchor="ctr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62626"/>
                </a:solidFill>
              </a:rPr>
              <a:t>Votes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7F7F7F"/>
                </a:solidFill>
              </a:rPr>
              <a:t>stored ballots</a:t>
            </a:r>
          </a:p>
        </p:txBody>
      </p:sp>
      <p:sp>
        <p:nvSpPr>
          <p:cNvPr id="16" name="Voting History"/>
          <p:cNvSpPr/>
          <p:nvPr/>
        </p:nvSpPr>
        <p:spPr>
          <a:xfrm>
            <a:off x="8074152" y="2660904"/>
            <a:ext cx="3657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73152" bIns="27432" rtlCol="0" anchor="ctr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62626"/>
                </a:solidFill>
              </a:rPr>
              <a:t>Voting History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7F7F7F"/>
                </a:solidFill>
              </a:rPr>
              <a:t>voter participation record</a:t>
            </a:r>
          </a:p>
        </p:txBody>
      </p:sp>
      <p:sp>
        <p:nvSpPr>
          <p:cNvPr id="17" name="Audit Logs"/>
          <p:cNvSpPr/>
          <p:nvPr/>
        </p:nvSpPr>
        <p:spPr>
          <a:xfrm>
            <a:off x="8074152" y="3227832"/>
            <a:ext cx="3657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73152" bIns="27432" rtlCol="0" anchor="ctr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62626"/>
                </a:solidFill>
              </a:rPr>
              <a:t>Audit Logs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7F7F7F"/>
                </a:solidFill>
              </a:rPr>
              <a:t>audit trail of vote events</a:t>
            </a:r>
          </a:p>
        </p:txBody>
      </p:sp>
      <p:sp>
        <p:nvSpPr>
          <p:cNvPr id="18" name="Keys"/>
          <p:cNvSpPr/>
          <p:nvPr/>
        </p:nvSpPr>
        <p:spPr>
          <a:xfrm>
            <a:off x="457200" y="4023360"/>
            <a:ext cx="55321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t"/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355071"/>
                </a:solidFill>
              </a:rPr>
              <a:t>KEYS &amp; RELATIONSHIPS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262626"/>
                </a:solidFill>
              </a:rPr>
              <a:t>Every table has a primary key.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262626"/>
                </a:solidFill>
              </a:rPr>
              <a:t>Candidates → Elections (foreign key).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262626"/>
                </a:solidFill>
              </a:rPr>
              <a:t>OTP verifications → Users (foreign key).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262626"/>
                </a:solidFill>
              </a:rPr>
              <a:t>Authorizations and votes are tied to an election.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262626"/>
                </a:solidFill>
              </a:rPr>
              <a:t>Cross-service links are ID references, resolved through REST.</a:t>
            </a:r>
          </a:p>
        </p:txBody>
      </p:sp>
      <p:sp>
        <p:nvSpPr>
          <p:cNvPr id="19" name="Constraints"/>
          <p:cNvSpPr/>
          <p:nvPr/>
        </p:nvSpPr>
        <p:spPr>
          <a:xfrm>
            <a:off x="6199632" y="4023360"/>
            <a:ext cx="55321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t"/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355071"/>
                </a:solidFill>
              </a:rPr>
              <a:t>CONSTRAINTS &amp; VOTE HANDLING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262626"/>
                </a:solidFill>
              </a:rPr>
              <a:t>Voting authorization records whether a voter has voted.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262626"/>
                </a:solidFill>
              </a:rPr>
              <a:t>Database constraints add duplicate-vote protection.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262626"/>
                </a:solidFill>
              </a:rPr>
              <a:t>Authorization is stored separately from ballot data.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262626"/>
                </a:solidFill>
              </a:rPr>
              <a:t>Each microservice owns its own logical database.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47120" cy="731520"/>
          </a:xfrm>
        </p:spPr>
        <p:txBody>
          <a:bodyPr anchor="ctr"/>
          <a:lstStyle/>
          <a:p>
            <a:pPr algn="l"/>
            <a:r>
              <a:rPr sz="2800"/>
              <a:t>Authentication &amp; Security</a:t>
            </a:r>
          </a:p>
        </p:txBody>
      </p:sp>
      <p:sp>
        <p:nvSpPr>
          <p:cNvPr id="3" name="Registration &amp; OTP"/>
          <p:cNvSpPr/>
          <p:nvPr/>
        </p:nvSpPr>
        <p:spPr>
          <a:xfrm>
            <a:off x="457200" y="1188720"/>
            <a:ext cx="36576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657600" cy="457200"/>
          </a:xfrm>
          <a:prstGeom prst="rect">
            <a:avLst/>
          </a:prstGeom>
          <a:solidFill>
            <a:srgbClr val="355071"/>
          </a:solidFill>
          <a:ln w="9525">
            <a:solidFill>
              <a:srgbClr val="3550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1400" b="1" cap="all">
                <a:solidFill>
                  <a:srgbClr val="FFFFFF"/>
                </a:solidFill>
              </a:rPr>
              <a:t>Registration &amp; OTP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28800"/>
            <a:ext cx="3383280" cy="2743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marL="228600" indent="-228600" algn="l">
              <a:spcAft>
                <a:spcPts val="1400"/>
              </a:spcAft>
              <a:buFont typeface="Arial"/>
              <a:buChar char="•"/>
            </a:pPr>
            <a:r>
              <a:rPr sz="1600" b="0" cap="all">
                <a:solidFill>
                  <a:srgbClr val="262626"/>
                </a:solidFill>
              </a:rPr>
              <a:t>Voter registration</a:t>
            </a:r>
          </a:p>
          <a:p>
            <a:pPr marL="228600" indent="-228600" algn="l">
              <a:spcAft>
                <a:spcPts val="1400"/>
              </a:spcAft>
              <a:buFont typeface="Arial"/>
              <a:buChar char="•"/>
            </a:pPr>
            <a:r>
              <a:rPr sz="1600" b="0" cap="all">
                <a:solidFill>
                  <a:srgbClr val="262626"/>
                </a:solidFill>
              </a:rPr>
              <a:t>OTP verification</a:t>
            </a:r>
          </a:p>
          <a:p>
            <a:pPr marL="228600" indent="-228600" algn="l">
              <a:spcAft>
                <a:spcPts val="1400"/>
              </a:spcAft>
              <a:buFont typeface="Arial"/>
              <a:buChar char="•"/>
            </a:pPr>
            <a:r>
              <a:rPr sz="1600" b="0" cap="all">
                <a:solidFill>
                  <a:srgbClr val="262626"/>
                </a:solidFill>
              </a:rPr>
              <a:t>OTP expiry</a:t>
            </a:r>
          </a:p>
          <a:p>
            <a:pPr marL="228600" indent="-228600" algn="l">
              <a:spcAft>
                <a:spcPts val="1400"/>
              </a:spcAft>
              <a:buFont typeface="Arial"/>
              <a:buChar char="•"/>
            </a:pPr>
            <a:r>
              <a:rPr sz="1600" b="0" cap="all">
                <a:solidFill>
                  <a:srgbClr val="262626"/>
                </a:solidFill>
              </a:rPr>
              <a:t>Maximum OTP attempts</a:t>
            </a:r>
          </a:p>
          <a:p>
            <a:pPr marL="228600" indent="-228600" algn="l">
              <a:spcAft>
                <a:spcPts val="1400"/>
              </a:spcAft>
              <a:buFont typeface="Arial"/>
              <a:buChar char="•"/>
            </a:pPr>
            <a:r>
              <a:rPr sz="1600" b="0" cap="all">
                <a:solidFill>
                  <a:srgbClr val="262626"/>
                </a:solidFill>
              </a:rPr>
              <a:t>Resend invalidates previous OTP</a:t>
            </a:r>
          </a:p>
        </p:txBody>
      </p:sp>
      <p:sp>
        <p:nvSpPr>
          <p:cNvPr id="6" name="Credentials &amp; Access"/>
          <p:cNvSpPr/>
          <p:nvPr/>
        </p:nvSpPr>
        <p:spPr>
          <a:xfrm>
            <a:off x="4270248" y="1188720"/>
            <a:ext cx="36576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270248" y="1188720"/>
            <a:ext cx="3657600" cy="457200"/>
          </a:xfrm>
          <a:prstGeom prst="rect">
            <a:avLst/>
          </a:prstGeom>
          <a:solidFill>
            <a:srgbClr val="355071"/>
          </a:solidFill>
          <a:ln w="9525">
            <a:solidFill>
              <a:srgbClr val="3550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1400" b="1" cap="all">
                <a:solidFill>
                  <a:srgbClr val="FFFFFF"/>
                </a:solidFill>
              </a:rPr>
              <a:t>Credentials &amp;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7408" y="1828800"/>
            <a:ext cx="3383280" cy="2743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marL="228600" indent="-228600" algn="l">
              <a:spcAft>
                <a:spcPts val="1400"/>
              </a:spcAft>
              <a:buFont typeface="Arial"/>
              <a:buChar char="•"/>
            </a:pPr>
            <a:r>
              <a:rPr sz="1600" b="0" cap="all">
                <a:solidFill>
                  <a:srgbClr val="262626"/>
                </a:solidFill>
              </a:rPr>
              <a:t>BCrypt password hashing</a:t>
            </a:r>
          </a:p>
          <a:p>
            <a:pPr marL="228600" indent="-228600" algn="l">
              <a:spcAft>
                <a:spcPts val="1400"/>
              </a:spcAft>
              <a:buFont typeface="Arial"/>
              <a:buChar char="•"/>
            </a:pPr>
            <a:r>
              <a:rPr sz="1600" b="0" cap="all">
                <a:solidFill>
                  <a:srgbClr val="262626"/>
                </a:solidFill>
              </a:rPr>
              <a:t>Authentication (login)</a:t>
            </a:r>
          </a:p>
          <a:p>
            <a:pPr marL="228600" indent="-228600" algn="l">
              <a:spcAft>
                <a:spcPts val="1400"/>
              </a:spcAft>
              <a:buFont typeface="Arial"/>
              <a:buChar char="•"/>
            </a:pPr>
            <a:r>
              <a:rPr sz="1600" b="0" cap="all">
                <a:solidFill>
                  <a:srgbClr val="262626"/>
                </a:solidFill>
              </a:rPr>
              <a:t>Authorization</a:t>
            </a:r>
          </a:p>
          <a:p>
            <a:pPr marL="228600" indent="-228600" algn="l">
              <a:spcAft>
                <a:spcPts val="1400"/>
              </a:spcAft>
              <a:buFont typeface="Arial"/>
              <a:buChar char="•"/>
            </a:pPr>
            <a:r>
              <a:rPr sz="1600" b="0" cap="all">
                <a:solidFill>
                  <a:srgbClr val="262626"/>
                </a:solidFill>
              </a:rPr>
              <a:t>Protected Aadhaar representation</a:t>
            </a:r>
          </a:p>
        </p:txBody>
      </p:sp>
      <p:sp>
        <p:nvSpPr>
          <p:cNvPr id="9" name="Voting Integrity"/>
          <p:cNvSpPr/>
          <p:nvPr/>
        </p:nvSpPr>
        <p:spPr>
          <a:xfrm>
            <a:off x="8074152" y="1188720"/>
            <a:ext cx="36576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074152" y="1188720"/>
            <a:ext cx="3657600" cy="457200"/>
          </a:xfrm>
          <a:prstGeom prst="rect">
            <a:avLst/>
          </a:prstGeom>
          <a:solidFill>
            <a:srgbClr val="355071"/>
          </a:solidFill>
          <a:ln w="9525">
            <a:solidFill>
              <a:srgbClr val="3550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1400" b="1" cap="all">
                <a:solidFill>
                  <a:srgbClr val="FFFFFF"/>
                </a:solidFill>
              </a:rPr>
              <a:t>Voting Integrity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11312" y="1828800"/>
            <a:ext cx="3383280" cy="2743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marL="228600" indent="-228600" algn="l">
              <a:spcAft>
                <a:spcPts val="1400"/>
              </a:spcAft>
              <a:buFont typeface="Arial"/>
              <a:buChar char="•"/>
            </a:pPr>
            <a:r>
              <a:rPr sz="1600" b="0" cap="all">
                <a:solidFill>
                  <a:srgbClr val="262626"/>
                </a:solidFill>
              </a:rPr>
              <a:t>Eligibility validation</a:t>
            </a:r>
          </a:p>
          <a:p>
            <a:pPr marL="228600" indent="-228600" algn="l">
              <a:spcAft>
                <a:spcPts val="1400"/>
              </a:spcAft>
              <a:buFont typeface="Arial"/>
              <a:buChar char="•"/>
            </a:pPr>
            <a:r>
              <a:rPr sz="1600" b="0" cap="all">
                <a:solidFill>
                  <a:srgbClr val="262626"/>
                </a:solidFill>
              </a:rPr>
              <a:t>Duplicate-vote prevention</a:t>
            </a:r>
          </a:p>
          <a:p>
            <a:pPr marL="228600" indent="-228600" algn="l">
              <a:spcAft>
                <a:spcPts val="1400"/>
              </a:spcAft>
              <a:buFont typeface="Arial"/>
              <a:buChar char="•"/>
            </a:pPr>
            <a:r>
              <a:rPr sz="1600" b="0" cap="all">
                <a:solidFill>
                  <a:srgbClr val="262626"/>
                </a:solidFill>
              </a:rPr>
              <a:t>Checks enforced in the backend</a:t>
            </a:r>
          </a:p>
        </p:txBody>
      </p:sp>
      <p:sp>
        <p:nvSpPr>
          <p:cNvPr id="12" name="Demo notice"/>
          <p:cNvSpPr/>
          <p:nvPr/>
        </p:nvSpPr>
        <p:spPr>
          <a:xfrm>
            <a:off x="457200" y="4846320"/>
            <a:ext cx="11274552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CE6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CE6633"/>
                </a:solidFill>
              </a:rPr>
              <a:t>DEMO NOTICE</a:t>
            </a:r>
          </a:p>
          <a:p>
            <a:pPr algn="ctr">
              <a:spcAft>
                <a:spcPts val="300"/>
              </a:spcAft>
            </a:pPr>
            <a:r>
              <a:rPr sz="1400" b="1">
                <a:solidFill>
                  <a:srgbClr val="262626"/>
                </a:solidFill>
              </a:rPr>
              <a:t>The Aadhaar-style OTP is a DEMO verification mechanism. It is NOT real UIDAI / Aadhaar integration.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47120" cy="731520"/>
          </a:xfrm>
        </p:spPr>
        <p:txBody>
          <a:bodyPr anchor="ctr"/>
          <a:lstStyle/>
          <a:p>
            <a:pPr algn="l"/>
            <a:r>
              <a:rPr sz="2800"/>
              <a:t>Voting Workflow &amp; Duplicate Prevention</a:t>
            </a:r>
          </a:p>
        </p:txBody>
      </p:sp>
      <p:sp>
        <p:nvSpPr>
          <p:cNvPr id="3" name="Step 1"/>
          <p:cNvSpPr/>
          <p:nvPr/>
        </p:nvSpPr>
        <p:spPr>
          <a:xfrm>
            <a:off x="457200" y="1188720"/>
            <a:ext cx="1554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550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0"/>
              </a:spcAft>
            </a:pPr>
            <a:r>
              <a:rPr sz="1000" b="1" cap="all">
                <a:solidFill>
                  <a:srgbClr val="355071"/>
                </a:solidFill>
              </a:rPr>
              <a:t>1</a:t>
            </a:r>
          </a:p>
          <a:p>
            <a:pPr algn="ctr">
              <a:spcAft>
                <a:spcPts val="0"/>
              </a:spcAft>
            </a:pPr>
            <a:r>
              <a:rPr sz="1100" b="1" cap="all">
                <a:solidFill>
                  <a:srgbClr val="262626"/>
                </a:solidFill>
              </a:rPr>
              <a:t>Login</a:t>
            </a:r>
          </a:p>
        </p:txBody>
      </p:sp>
      <p:sp>
        <p:nvSpPr>
          <p:cNvPr id="4" name="Step 2"/>
          <p:cNvSpPr/>
          <p:nvPr/>
        </p:nvSpPr>
        <p:spPr>
          <a:xfrm>
            <a:off x="2395728" y="1188720"/>
            <a:ext cx="1554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550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0"/>
              </a:spcAft>
            </a:pPr>
            <a:r>
              <a:rPr sz="1000" b="1" cap="all">
                <a:solidFill>
                  <a:srgbClr val="355071"/>
                </a:solidFill>
              </a:rPr>
              <a:t>2</a:t>
            </a:r>
          </a:p>
          <a:p>
            <a:pPr algn="ctr">
              <a:spcAft>
                <a:spcPts val="0"/>
              </a:spcAft>
            </a:pPr>
            <a:r>
              <a:rPr sz="1100" b="1" cap="all">
                <a:solidFill>
                  <a:srgbClr val="262626"/>
                </a:solidFill>
              </a:rPr>
              <a:t>Select active election</a:t>
            </a:r>
          </a:p>
        </p:txBody>
      </p:sp>
      <p:sp>
        <p:nvSpPr>
          <p:cNvPr id="5" name="Step 3"/>
          <p:cNvSpPr/>
          <p:nvPr/>
        </p:nvSpPr>
        <p:spPr>
          <a:xfrm>
            <a:off x="4334256" y="1188720"/>
            <a:ext cx="1554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550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0"/>
              </a:spcAft>
            </a:pPr>
            <a:r>
              <a:rPr sz="1000" b="1" cap="all">
                <a:solidFill>
                  <a:srgbClr val="355071"/>
                </a:solidFill>
              </a:rPr>
              <a:t>3</a:t>
            </a:r>
          </a:p>
          <a:p>
            <a:pPr algn="ctr">
              <a:spcAft>
                <a:spcPts val="0"/>
              </a:spcAft>
            </a:pPr>
            <a:r>
              <a:rPr sz="1100" b="1" cap="all">
                <a:solidFill>
                  <a:srgbClr val="262626"/>
                </a:solidFill>
              </a:rPr>
              <a:t>Eligibility check</a:t>
            </a:r>
          </a:p>
        </p:txBody>
      </p:sp>
      <p:sp>
        <p:nvSpPr>
          <p:cNvPr id="6" name="Step 4"/>
          <p:cNvSpPr/>
          <p:nvPr/>
        </p:nvSpPr>
        <p:spPr>
          <a:xfrm>
            <a:off x="6272784" y="1188720"/>
            <a:ext cx="1554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550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0"/>
              </a:spcAft>
            </a:pPr>
            <a:r>
              <a:rPr sz="1000" b="1" cap="all">
                <a:solidFill>
                  <a:srgbClr val="355071"/>
                </a:solidFill>
              </a:rPr>
              <a:t>4</a:t>
            </a:r>
          </a:p>
          <a:p>
            <a:pPr algn="ctr">
              <a:spcAft>
                <a:spcPts val="0"/>
              </a:spcAft>
            </a:pPr>
            <a:r>
              <a:rPr sz="1100" b="1" cap="all">
                <a:solidFill>
                  <a:srgbClr val="262626"/>
                </a:solidFill>
              </a:rPr>
              <a:t>Authorization check</a:t>
            </a:r>
          </a:p>
        </p:txBody>
      </p:sp>
      <p:sp>
        <p:nvSpPr>
          <p:cNvPr id="7" name="Step 5"/>
          <p:cNvSpPr/>
          <p:nvPr/>
        </p:nvSpPr>
        <p:spPr>
          <a:xfrm>
            <a:off x="8211312" y="1188720"/>
            <a:ext cx="1554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550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0"/>
              </a:spcAft>
            </a:pPr>
            <a:r>
              <a:rPr sz="1000" b="1" cap="all">
                <a:solidFill>
                  <a:srgbClr val="355071"/>
                </a:solidFill>
              </a:rPr>
              <a:t>5</a:t>
            </a:r>
          </a:p>
          <a:p>
            <a:pPr algn="ctr">
              <a:spcAft>
                <a:spcPts val="0"/>
              </a:spcAft>
            </a:pPr>
            <a:r>
              <a:rPr sz="1100" b="1" cap="all">
                <a:solidFill>
                  <a:srgbClr val="262626"/>
                </a:solidFill>
              </a:rPr>
              <a:t>Select candidate</a:t>
            </a:r>
          </a:p>
        </p:txBody>
      </p:sp>
      <p:sp>
        <p:nvSpPr>
          <p:cNvPr id="8" name="Step 6"/>
          <p:cNvSpPr/>
          <p:nvPr/>
        </p:nvSpPr>
        <p:spPr>
          <a:xfrm>
            <a:off x="10149840" y="1188720"/>
            <a:ext cx="1554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550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0"/>
              </a:spcAft>
            </a:pPr>
            <a:r>
              <a:rPr sz="1000" b="1" cap="all">
                <a:solidFill>
                  <a:srgbClr val="355071"/>
                </a:solidFill>
              </a:rPr>
              <a:t>6</a:t>
            </a:r>
          </a:p>
          <a:p>
            <a:pPr algn="ctr">
              <a:spcAft>
                <a:spcPts val="0"/>
              </a:spcAft>
            </a:pPr>
            <a:r>
              <a:rPr sz="1100" b="1" cap="all">
                <a:solidFill>
                  <a:srgbClr val="262626"/>
                </a:solidFill>
              </a:rPr>
              <a:t>Submit vote</a:t>
            </a:r>
          </a:p>
        </p:txBody>
      </p:sp>
      <p:sp>
        <p:nvSpPr>
          <p:cNvPr id="9" name="Step 7"/>
          <p:cNvSpPr/>
          <p:nvPr/>
        </p:nvSpPr>
        <p:spPr>
          <a:xfrm>
            <a:off x="10149840" y="2331720"/>
            <a:ext cx="1554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550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0"/>
              </a:spcAft>
            </a:pPr>
            <a:r>
              <a:rPr sz="1000" b="1" cap="all">
                <a:solidFill>
                  <a:srgbClr val="355071"/>
                </a:solidFill>
              </a:rPr>
              <a:t>7</a:t>
            </a:r>
          </a:p>
          <a:p>
            <a:pPr algn="ctr">
              <a:spcAft>
                <a:spcPts val="0"/>
              </a:spcAft>
            </a:pPr>
            <a:r>
              <a:rPr sz="1100" b="1" cap="all">
                <a:solidFill>
                  <a:srgbClr val="262626"/>
                </a:solidFill>
              </a:rPr>
              <a:t>Duplicate-vote check</a:t>
            </a:r>
          </a:p>
        </p:txBody>
      </p:sp>
      <p:sp>
        <p:nvSpPr>
          <p:cNvPr id="10" name="Step 8"/>
          <p:cNvSpPr/>
          <p:nvPr/>
        </p:nvSpPr>
        <p:spPr>
          <a:xfrm>
            <a:off x="8211312" y="2331720"/>
            <a:ext cx="1554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550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0"/>
              </a:spcAft>
            </a:pPr>
            <a:r>
              <a:rPr sz="1000" b="1" cap="all">
                <a:solidFill>
                  <a:srgbClr val="355071"/>
                </a:solidFill>
              </a:rPr>
              <a:t>8</a:t>
            </a:r>
          </a:p>
          <a:p>
            <a:pPr algn="ctr">
              <a:spcAft>
                <a:spcPts val="0"/>
              </a:spcAft>
            </a:pPr>
            <a:r>
              <a:rPr sz="1100" b="1" cap="all">
                <a:solidFill>
                  <a:srgbClr val="262626"/>
                </a:solidFill>
              </a:rPr>
              <a:t>Store ballot</a:t>
            </a:r>
          </a:p>
        </p:txBody>
      </p:sp>
      <p:sp>
        <p:nvSpPr>
          <p:cNvPr id="11" name="Step 9"/>
          <p:cNvSpPr/>
          <p:nvPr/>
        </p:nvSpPr>
        <p:spPr>
          <a:xfrm>
            <a:off x="6272784" y="2331720"/>
            <a:ext cx="1554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550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0"/>
              </a:spcAft>
            </a:pPr>
            <a:r>
              <a:rPr sz="1000" b="1" cap="all">
                <a:solidFill>
                  <a:srgbClr val="355071"/>
                </a:solidFill>
              </a:rPr>
              <a:t>9</a:t>
            </a:r>
          </a:p>
          <a:p>
            <a:pPr algn="ctr">
              <a:spcAft>
                <a:spcPts val="0"/>
              </a:spcAft>
            </a:pPr>
            <a:r>
              <a:rPr sz="1100" b="1" cap="all">
                <a:solidFill>
                  <a:srgbClr val="262626"/>
                </a:solidFill>
              </a:rPr>
              <a:t>Mark authorization used</a:t>
            </a:r>
          </a:p>
        </p:txBody>
      </p:sp>
      <p:sp>
        <p:nvSpPr>
          <p:cNvPr id="12" name="Step 10"/>
          <p:cNvSpPr/>
          <p:nvPr/>
        </p:nvSpPr>
        <p:spPr>
          <a:xfrm>
            <a:off x="4334256" y="2331720"/>
            <a:ext cx="1554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550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0"/>
              </a:spcAft>
            </a:pPr>
            <a:r>
              <a:rPr sz="1000" b="1" cap="all">
                <a:solidFill>
                  <a:srgbClr val="355071"/>
                </a:solidFill>
              </a:rPr>
              <a:t>10</a:t>
            </a:r>
          </a:p>
          <a:p>
            <a:pPr algn="ctr">
              <a:spcAft>
                <a:spcPts val="0"/>
              </a:spcAft>
            </a:pPr>
            <a:r>
              <a:rPr sz="1100" b="1" cap="all">
                <a:solidFill>
                  <a:srgbClr val="262626"/>
                </a:solidFill>
              </a:rPr>
              <a:t>Audit event</a:t>
            </a:r>
          </a:p>
        </p:txBody>
      </p:sp>
      <p:sp>
        <p:nvSpPr>
          <p:cNvPr id="13" name="Step 11"/>
          <p:cNvSpPr/>
          <p:nvPr/>
        </p:nvSpPr>
        <p:spPr>
          <a:xfrm>
            <a:off x="2395728" y="2331720"/>
            <a:ext cx="1554480" cy="777240"/>
          </a:xfrm>
          <a:prstGeom prst="roundRect">
            <a:avLst>
              <a:gd name="adj" fmla="val 8000"/>
            </a:avLst>
          </a:prstGeom>
          <a:solidFill>
            <a:srgbClr val="4B8F3A"/>
          </a:solidFill>
          <a:ln w="9525">
            <a:solidFill>
              <a:srgbClr val="4B8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0"/>
              </a:spcAft>
            </a:pPr>
            <a:r>
              <a:rPr sz="1000" b="1" cap="all">
                <a:solidFill>
                  <a:srgbClr val="FFFFFF"/>
                </a:solidFill>
              </a:rPr>
              <a:t>11</a:t>
            </a:r>
          </a:p>
          <a:p>
            <a:pPr algn="ctr">
              <a:spcAft>
                <a:spcPts val="0"/>
              </a:spcAft>
            </a:pPr>
            <a:r>
              <a:rPr sz="1100" b="1" cap="all">
                <a:solidFill>
                  <a:srgbClr val="FFFFFF"/>
                </a:solidFill>
              </a:rPr>
              <a:t>Vote recorded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011680" y="1577340"/>
            <a:ext cx="384048" cy="0"/>
          </a:xfrm>
          <a:prstGeom prst="line">
            <a:avLst/>
          </a:prstGeom>
          <a:ln w="19050">
            <a:solidFill>
              <a:srgbClr val="3550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950208" y="1577340"/>
            <a:ext cx="384048" cy="0"/>
          </a:xfrm>
          <a:prstGeom prst="line">
            <a:avLst/>
          </a:prstGeom>
          <a:ln w="19050">
            <a:solidFill>
              <a:srgbClr val="3550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888736" y="1577340"/>
            <a:ext cx="384048" cy="0"/>
          </a:xfrm>
          <a:prstGeom prst="line">
            <a:avLst/>
          </a:prstGeom>
          <a:ln w="19050">
            <a:solidFill>
              <a:srgbClr val="3550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827264" y="1577340"/>
            <a:ext cx="384048" cy="0"/>
          </a:xfrm>
          <a:prstGeom prst="line">
            <a:avLst/>
          </a:prstGeom>
          <a:ln w="19050">
            <a:solidFill>
              <a:srgbClr val="3550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65792" y="1577340"/>
            <a:ext cx="384048" cy="0"/>
          </a:xfrm>
          <a:prstGeom prst="line">
            <a:avLst/>
          </a:prstGeom>
          <a:ln w="19050">
            <a:solidFill>
              <a:srgbClr val="3550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927080" y="1965960"/>
            <a:ext cx="0" cy="365760"/>
          </a:xfrm>
          <a:prstGeom prst="line">
            <a:avLst/>
          </a:prstGeom>
          <a:ln w="19050">
            <a:solidFill>
              <a:srgbClr val="3550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9765792" y="2720340"/>
            <a:ext cx="384048" cy="0"/>
          </a:xfrm>
          <a:prstGeom prst="line">
            <a:avLst/>
          </a:prstGeom>
          <a:ln w="19050">
            <a:solidFill>
              <a:srgbClr val="3550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7827264" y="2720340"/>
            <a:ext cx="384048" cy="0"/>
          </a:xfrm>
          <a:prstGeom prst="line">
            <a:avLst/>
          </a:prstGeom>
          <a:ln w="19050">
            <a:solidFill>
              <a:srgbClr val="3550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5888736" y="2720340"/>
            <a:ext cx="384048" cy="0"/>
          </a:xfrm>
          <a:prstGeom prst="line">
            <a:avLst/>
          </a:prstGeom>
          <a:ln w="19050">
            <a:solidFill>
              <a:srgbClr val="3550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950208" y="2720340"/>
            <a:ext cx="384048" cy="0"/>
          </a:xfrm>
          <a:prstGeom prst="line">
            <a:avLst/>
          </a:prstGeom>
          <a:ln w="19050">
            <a:solidFill>
              <a:srgbClr val="3550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Backend rules"/>
          <p:cNvSpPr/>
          <p:nvPr/>
        </p:nvSpPr>
        <p:spPr>
          <a:xfrm>
            <a:off x="457200" y="3474720"/>
            <a:ext cx="553212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3520440"/>
            <a:ext cx="5303520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cap="all">
                <a:solidFill>
                  <a:srgbClr val="355071"/>
                </a:solidFill>
              </a:rPr>
              <a:t>Backend-enforced rules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931920"/>
            <a:ext cx="5303520" cy="21488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500" b="0">
                <a:solidFill>
                  <a:srgbClr val="262626"/>
                </a:solidFill>
              </a:rPr>
              <a:t>Backend is authoritative.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500" b="0">
                <a:solidFill>
                  <a:srgbClr val="262626"/>
                </a:solidFill>
              </a:rPr>
              <a:t>Frontend button disabling is not the security mechanism.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500" b="0">
                <a:solidFill>
                  <a:srgbClr val="262626"/>
                </a:solidFill>
              </a:rPr>
              <a:t>Voting authorization tracks whether the voter has already voted.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500" b="0">
                <a:solidFill>
                  <a:srgbClr val="262626"/>
                </a:solidFill>
              </a:rPr>
              <a:t>Database constraints give additional duplicate protection.</a:t>
            </a:r>
          </a:p>
        </p:txBody>
      </p:sp>
      <p:sp>
        <p:nvSpPr>
          <p:cNvPr id="27" name="Vote storage"/>
          <p:cNvSpPr/>
          <p:nvPr/>
        </p:nvSpPr>
        <p:spPr>
          <a:xfrm>
            <a:off x="6199632" y="3474720"/>
            <a:ext cx="553212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36792" y="3520440"/>
            <a:ext cx="5303520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cap="all">
                <a:solidFill>
                  <a:srgbClr val="355071"/>
                </a:solidFill>
              </a:rPr>
              <a:t>Vote storage 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3931920"/>
            <a:ext cx="5303520" cy="21488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500" b="0">
                <a:solidFill>
                  <a:srgbClr val="262626"/>
                </a:solidFill>
              </a:rPr>
              <a:t>Voter authorization and ballot information are stored separately.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500" b="0">
                <a:solidFill>
                  <a:srgbClr val="262626"/>
                </a:solidFill>
              </a:rPr>
              <a:t>Authorization is marked used only after the ballot is stored.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500" b="0">
                <a:solidFill>
                  <a:srgbClr val="262626"/>
                </a:solidFill>
              </a:rPr>
              <a:t>Designed to separate who may vote from what was cast; not claimed as a cryptographic-grade secret ballot.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47120" cy="731520"/>
          </a:xfrm>
        </p:spPr>
        <p:txBody>
          <a:bodyPr anchor="ctr"/>
          <a:lstStyle/>
          <a:p>
            <a:pPr algn="l"/>
            <a:r>
              <a:rPr sz="2800"/>
              <a:t>Final Implementation – Voter Interface</a:t>
            </a:r>
          </a:p>
        </p:txBody>
      </p:sp>
      <p:sp>
        <p:nvSpPr>
          <p:cNvPr id="3" name="Screenshot placeholder - Home page"/>
          <p:cNvSpPr/>
          <p:nvPr/>
        </p:nvSpPr>
        <p:spPr>
          <a:xfrm>
            <a:off x="457200" y="1188720"/>
            <a:ext cx="26517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2651760" cy="17830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7F7F7F"/>
                </a:solidFill>
              </a:rPr>
              <a:t>Insert actual screenshot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90088"/>
            <a:ext cx="265176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cap="all">
                <a:solidFill>
                  <a:srgbClr val="262626"/>
                </a:solidFill>
              </a:rPr>
              <a:t>Home page</a:t>
            </a:r>
          </a:p>
        </p:txBody>
      </p:sp>
      <p:sp>
        <p:nvSpPr>
          <p:cNvPr id="6" name="Screenshot placeholder - Voter registration"/>
          <p:cNvSpPr/>
          <p:nvPr/>
        </p:nvSpPr>
        <p:spPr>
          <a:xfrm>
            <a:off x="3319272" y="1188720"/>
            <a:ext cx="26517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19272" y="1188720"/>
            <a:ext cx="2651760" cy="17830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7F7F7F"/>
                </a:solidFill>
              </a:rPr>
              <a:t>Insert actual screenshot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19272" y="2990088"/>
            <a:ext cx="265176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cap="all">
                <a:solidFill>
                  <a:srgbClr val="262626"/>
                </a:solidFill>
              </a:rPr>
              <a:t>Voter registration</a:t>
            </a:r>
          </a:p>
        </p:txBody>
      </p:sp>
      <p:sp>
        <p:nvSpPr>
          <p:cNvPr id="9" name="Screenshot placeholder - OTP verification"/>
          <p:cNvSpPr/>
          <p:nvPr/>
        </p:nvSpPr>
        <p:spPr>
          <a:xfrm>
            <a:off x="6181344" y="1188720"/>
            <a:ext cx="26517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81344" y="1188720"/>
            <a:ext cx="2651760" cy="17830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7F7F7F"/>
                </a:solidFill>
              </a:rPr>
              <a:t>Insert actual screenshot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1344" y="2990088"/>
            <a:ext cx="265176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cap="all">
                <a:solidFill>
                  <a:srgbClr val="262626"/>
                </a:solidFill>
              </a:rPr>
              <a:t>OTP verification</a:t>
            </a:r>
          </a:p>
        </p:txBody>
      </p:sp>
      <p:sp>
        <p:nvSpPr>
          <p:cNvPr id="12" name="Screenshot placeholder - Login"/>
          <p:cNvSpPr/>
          <p:nvPr/>
        </p:nvSpPr>
        <p:spPr>
          <a:xfrm>
            <a:off x="9043416" y="1188720"/>
            <a:ext cx="26517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43416" y="1188720"/>
            <a:ext cx="2651760" cy="17830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7F7F7F"/>
                </a:solidFill>
              </a:rPr>
              <a:t>Insert actual screenshot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3416" y="2990088"/>
            <a:ext cx="265176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cap="all">
                <a:solidFill>
                  <a:srgbClr val="262626"/>
                </a:solidFill>
              </a:rPr>
              <a:t>Login</a:t>
            </a:r>
          </a:p>
        </p:txBody>
      </p:sp>
      <p:sp>
        <p:nvSpPr>
          <p:cNvPr id="15" name="Screenshot placeholder - Voter dashboard"/>
          <p:cNvSpPr/>
          <p:nvPr/>
        </p:nvSpPr>
        <p:spPr>
          <a:xfrm>
            <a:off x="457200" y="3566160"/>
            <a:ext cx="26517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566160"/>
            <a:ext cx="2651760" cy="17830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7F7F7F"/>
                </a:solidFill>
              </a:rPr>
              <a:t>Insert actual screenshot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67528"/>
            <a:ext cx="265176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cap="all">
                <a:solidFill>
                  <a:srgbClr val="262626"/>
                </a:solidFill>
              </a:rPr>
              <a:t>Voter dashboard</a:t>
            </a:r>
          </a:p>
        </p:txBody>
      </p:sp>
      <p:sp>
        <p:nvSpPr>
          <p:cNvPr id="18" name="Screenshot placeholder - Live / active election"/>
          <p:cNvSpPr/>
          <p:nvPr/>
        </p:nvSpPr>
        <p:spPr>
          <a:xfrm>
            <a:off x="3319272" y="3566160"/>
            <a:ext cx="26517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19272" y="3566160"/>
            <a:ext cx="2651760" cy="17830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7F7F7F"/>
                </a:solidFill>
              </a:rPr>
              <a:t>Insert actual screenshot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9272" y="5367528"/>
            <a:ext cx="265176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cap="all">
                <a:solidFill>
                  <a:srgbClr val="262626"/>
                </a:solidFill>
              </a:rPr>
              <a:t>Live / active election</a:t>
            </a:r>
          </a:p>
        </p:txBody>
      </p:sp>
      <p:sp>
        <p:nvSpPr>
          <p:cNvPr id="21" name="Screenshot placeholder - Voting page"/>
          <p:cNvSpPr/>
          <p:nvPr/>
        </p:nvSpPr>
        <p:spPr>
          <a:xfrm>
            <a:off x="6181344" y="3566160"/>
            <a:ext cx="26517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81344" y="3566160"/>
            <a:ext cx="2651760" cy="17830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7F7F7F"/>
                </a:solidFill>
              </a:rPr>
              <a:t>Insert actual screenshot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1344" y="5367528"/>
            <a:ext cx="265176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cap="all">
                <a:solidFill>
                  <a:srgbClr val="262626"/>
                </a:solidFill>
              </a:rPr>
              <a:t>Voting page</a:t>
            </a:r>
          </a:p>
        </p:txBody>
      </p:sp>
      <p:sp>
        <p:nvSpPr>
          <p:cNvPr id="24" name="Screenshot placeholder - Voting history"/>
          <p:cNvSpPr/>
          <p:nvPr/>
        </p:nvSpPr>
        <p:spPr>
          <a:xfrm>
            <a:off x="9043416" y="3566160"/>
            <a:ext cx="26517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43416" y="3566160"/>
            <a:ext cx="2651760" cy="17830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7F7F7F"/>
                </a:solidFill>
              </a:rPr>
              <a:t>Insert actual screenshot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3416" y="5367528"/>
            <a:ext cx="265176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cap="all">
                <a:solidFill>
                  <a:srgbClr val="262626"/>
                </a:solidFill>
              </a:rPr>
              <a:t>Voting history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47120" cy="731520"/>
          </a:xfrm>
        </p:spPr>
        <p:txBody>
          <a:bodyPr anchor="ctr"/>
          <a:lstStyle/>
          <a:p>
            <a:pPr algn="l"/>
            <a:r>
              <a:rPr sz="2800"/>
              <a:t>Admin Module &amp; API / Microservice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cap="all">
                <a:solidFill>
                  <a:srgbClr val="355071"/>
                </a:solidFill>
              </a:rPr>
              <a:t>Admin</a:t>
            </a:r>
          </a:p>
        </p:txBody>
      </p:sp>
      <p:sp>
        <p:nvSpPr>
          <p:cNvPr id="4" name="Screenshot placeholder - Admin dashboard"/>
          <p:cNvSpPr/>
          <p:nvPr/>
        </p:nvSpPr>
        <p:spPr>
          <a:xfrm>
            <a:off x="457200" y="1508760"/>
            <a:ext cx="17373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737360" cy="1508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7F7F7F"/>
                </a:solidFill>
              </a:rPr>
              <a:t>Insert screenshot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35808"/>
            <a:ext cx="173736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cap="all">
                <a:solidFill>
                  <a:srgbClr val="262626"/>
                </a:solidFill>
              </a:rPr>
              <a:t>Admin dashboard</a:t>
            </a:r>
          </a:p>
        </p:txBody>
      </p:sp>
      <p:sp>
        <p:nvSpPr>
          <p:cNvPr id="7" name="Screenshot placeholder - Election management"/>
          <p:cNvSpPr/>
          <p:nvPr/>
        </p:nvSpPr>
        <p:spPr>
          <a:xfrm>
            <a:off x="2331720" y="1508760"/>
            <a:ext cx="17373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31720" y="1508760"/>
            <a:ext cx="1737360" cy="1508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7F7F7F"/>
                </a:solidFill>
              </a:rPr>
              <a:t>Insert screenshot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3035808"/>
            <a:ext cx="173736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cap="all">
                <a:solidFill>
                  <a:srgbClr val="262626"/>
                </a:solidFill>
              </a:rPr>
              <a:t>Election management</a:t>
            </a:r>
          </a:p>
        </p:txBody>
      </p:sp>
      <p:sp>
        <p:nvSpPr>
          <p:cNvPr id="10" name="Screenshot placeholder - Candidate management"/>
          <p:cNvSpPr/>
          <p:nvPr/>
        </p:nvSpPr>
        <p:spPr>
          <a:xfrm>
            <a:off x="4206240" y="1508760"/>
            <a:ext cx="17373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06240" y="1508760"/>
            <a:ext cx="1737360" cy="1508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7F7F7F"/>
                </a:solidFill>
              </a:rPr>
              <a:t>Insert screenshot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3035808"/>
            <a:ext cx="173736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cap="all">
                <a:solidFill>
                  <a:srgbClr val="262626"/>
                </a:solidFill>
              </a:rPr>
              <a:t>Candidate management</a:t>
            </a:r>
          </a:p>
        </p:txBody>
      </p:sp>
      <p:sp>
        <p:nvSpPr>
          <p:cNvPr id="13" name="Screenshot placeholder - Results"/>
          <p:cNvSpPr/>
          <p:nvPr/>
        </p:nvSpPr>
        <p:spPr>
          <a:xfrm>
            <a:off x="457200" y="3657600"/>
            <a:ext cx="17373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657600"/>
            <a:ext cx="1737360" cy="1508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7F7F7F"/>
                </a:solidFill>
              </a:rPr>
              <a:t>Insert screenshot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184648"/>
            <a:ext cx="173736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cap="all">
                <a:solidFill>
                  <a:srgbClr val="262626"/>
                </a:solidFill>
              </a:rPr>
              <a:t>Results</a:t>
            </a:r>
          </a:p>
        </p:txBody>
      </p:sp>
      <p:sp>
        <p:nvSpPr>
          <p:cNvPr id="16" name="Screenshot placeholder - Audit logs"/>
          <p:cNvSpPr/>
          <p:nvPr/>
        </p:nvSpPr>
        <p:spPr>
          <a:xfrm>
            <a:off x="2331720" y="3657600"/>
            <a:ext cx="17373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31720" y="3657600"/>
            <a:ext cx="1737360" cy="1508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7F7F7F"/>
                </a:solidFill>
              </a:rPr>
              <a:t>Insert screenshot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184648"/>
            <a:ext cx="173736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cap="all">
                <a:solidFill>
                  <a:srgbClr val="262626"/>
                </a:solidFill>
              </a:rPr>
              <a:t>Audit logs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26480" y="1097280"/>
            <a:ext cx="0" cy="493776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309360" y="1051560"/>
            <a:ext cx="5486400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cap="all">
                <a:solidFill>
                  <a:srgbClr val="355071"/>
                </a:solidFill>
              </a:rPr>
              <a:t>API / Microservice Testing</a:t>
            </a:r>
          </a:p>
        </p:txBody>
      </p:sp>
      <p:sp>
        <p:nvSpPr>
          <p:cNvPr id="21" name="Screenshot placeholder - Auth Service API"/>
          <p:cNvSpPr/>
          <p:nvPr/>
        </p:nvSpPr>
        <p:spPr>
          <a:xfrm>
            <a:off x="6309360" y="1508760"/>
            <a:ext cx="26517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60" y="1508760"/>
            <a:ext cx="2651760" cy="13258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7F7F7F"/>
                </a:solidFill>
              </a:rPr>
              <a:t>Insert Postman screenshot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852927"/>
            <a:ext cx="265176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cap="all">
                <a:solidFill>
                  <a:srgbClr val="262626"/>
                </a:solidFill>
              </a:rPr>
              <a:t>Auth Service API</a:t>
            </a:r>
          </a:p>
        </p:txBody>
      </p:sp>
      <p:sp>
        <p:nvSpPr>
          <p:cNvPr id="24" name="Screenshot placeholder - Election Service API"/>
          <p:cNvSpPr/>
          <p:nvPr/>
        </p:nvSpPr>
        <p:spPr>
          <a:xfrm>
            <a:off x="9098280" y="1508760"/>
            <a:ext cx="26517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98280" y="1508760"/>
            <a:ext cx="2651760" cy="13258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7F7F7F"/>
                </a:solidFill>
              </a:rPr>
              <a:t>Insert Postman screenshot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852927"/>
            <a:ext cx="265176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cap="all">
                <a:solidFill>
                  <a:srgbClr val="262626"/>
                </a:solidFill>
              </a:rPr>
              <a:t>Election Service API</a:t>
            </a:r>
          </a:p>
        </p:txBody>
      </p:sp>
      <p:sp>
        <p:nvSpPr>
          <p:cNvPr id="27" name="Screenshot placeholder - Voting Service API"/>
          <p:cNvSpPr/>
          <p:nvPr/>
        </p:nvSpPr>
        <p:spPr>
          <a:xfrm>
            <a:off x="6309360" y="3337560"/>
            <a:ext cx="26517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60" y="3337560"/>
            <a:ext cx="2651760" cy="13258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7F7F7F"/>
                </a:solidFill>
              </a:rPr>
              <a:t>Insert Postman screenshot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681727"/>
            <a:ext cx="265176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cap="all">
                <a:solidFill>
                  <a:srgbClr val="262626"/>
                </a:solidFill>
              </a:rPr>
              <a:t>Voting Service API</a:t>
            </a:r>
          </a:p>
        </p:txBody>
      </p:sp>
      <p:sp>
        <p:nvSpPr>
          <p:cNvPr id="30" name="Screenshot placeholder - Voting → Election REST"/>
          <p:cNvSpPr/>
          <p:nvPr/>
        </p:nvSpPr>
        <p:spPr>
          <a:xfrm>
            <a:off x="9098280" y="3337560"/>
            <a:ext cx="26517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98280" y="3337560"/>
            <a:ext cx="2651760" cy="13258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7F7F7F"/>
                </a:solidFill>
              </a:rPr>
              <a:t>Insert Postman screenshot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4681727"/>
            <a:ext cx="265176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cap="all">
                <a:solidFill>
                  <a:srgbClr val="262626"/>
                </a:solidFill>
              </a:rPr>
              <a:t>Voting → Election REST</a:t>
            </a:r>
          </a:p>
        </p:txBody>
      </p:sp>
      <p:sp>
        <p:nvSpPr>
          <p:cNvPr id="33" name="API note"/>
          <p:cNvSpPr/>
          <p:nvPr/>
        </p:nvSpPr>
        <p:spPr>
          <a:xfrm>
            <a:off x="6309360" y="5257800"/>
            <a:ext cx="5422392" cy="868680"/>
          </a:xfrm>
          <a:prstGeom prst="roundRect">
            <a:avLst>
              <a:gd name="adj" fmla="val 8000"/>
            </a:avLst>
          </a:prstGeom>
          <a:solidFill>
            <a:srgbClr val="E6ECF3"/>
          </a:solidFill>
          <a:ln w="9525">
            <a:solidFill>
              <a:srgbClr val="3550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262626"/>
                </a:solidFill>
              </a:rPr>
              <a:t>Services communicate through APIs rather than directly accessing another service's database.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47120" cy="731520"/>
          </a:xfrm>
        </p:spPr>
        <p:txBody>
          <a:bodyPr anchor="ctr"/>
          <a:lstStyle/>
          <a:p>
            <a:pPr algn="l"/>
            <a:r>
              <a:rPr sz="2800"/>
              <a:t>Testing, Results &amp; Team Contribution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43000"/>
          <a:ext cx="60350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200" b="1" cap="all">
                          <a:solidFill>
                            <a:srgbClr val="FFFFFF"/>
                          </a:solidFill>
                        </a:rPr>
                        <a:t>Test case</a:t>
                      </a:r>
                    </a:p>
                  </a:txBody>
                  <a:tcPr marL="73152" marR="73152" marT="27432" marB="27432" anchor="ctr">
                    <a:solidFill>
                      <a:srgbClr val="3550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cap="all">
                          <a:solidFill>
                            <a:srgbClr val="FFFFFF"/>
                          </a:solidFill>
                        </a:rPr>
                        <a:t>Expected result</a:t>
                      </a:r>
                    </a:p>
                  </a:txBody>
                  <a:tcPr marL="73152" marR="73152" marT="27432" marB="27432" anchor="ctr">
                    <a:solidFill>
                      <a:srgbClr val="3550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cap="all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3550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Valid registration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Voter account created, OTP issued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TO CONFIRM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OTP verification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Correct OTP verifies the voter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TO CONFIRM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Login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Verified voter logs 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TO CONFIRM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Election retrieval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Elections returned by Election Service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TO CONFIRM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Candidate retrieval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Candidates of an election returned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TO CONFIRM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Valid vote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Ballot stored, authorization marked used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TO CONFIRM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Duplicate vote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Second vote in same election rejected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TO CONFIRM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Closed election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Voting on closed election rejected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TO CONFIRM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Results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Vote counts shown for the election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TO CONFIRM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766560" y="1051560"/>
            <a:ext cx="4937760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cap="all">
                <a:solidFill>
                  <a:srgbClr val="355071"/>
                </a:solidFill>
              </a:rPr>
              <a:t>Project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1417320"/>
            <a:ext cx="4937760" cy="22860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marL="228600" indent="-228600" algn="l">
              <a:spcAft>
                <a:spcPts val="700"/>
              </a:spcAft>
              <a:buFont typeface="Arial"/>
              <a:buChar char="•"/>
            </a:pPr>
            <a:r>
              <a:rPr sz="1300" b="0" cap="all">
                <a:solidFill>
                  <a:srgbClr val="262626"/>
                </a:solidFill>
              </a:rPr>
              <a:t>Working web-based voting workflow</a:t>
            </a:r>
          </a:p>
          <a:p>
            <a:pPr marL="228600" indent="-228600" algn="l">
              <a:spcAft>
                <a:spcPts val="700"/>
              </a:spcAft>
              <a:buFont typeface="Arial"/>
              <a:buChar char="•"/>
            </a:pPr>
            <a:r>
              <a:rPr sz="1300" b="0" cap="all">
                <a:solidFill>
                  <a:srgbClr val="262626"/>
                </a:solidFill>
              </a:rPr>
              <a:t>Authentication and OTP verification</a:t>
            </a:r>
          </a:p>
          <a:p>
            <a:pPr marL="228600" indent="-228600" algn="l">
              <a:spcAft>
                <a:spcPts val="700"/>
              </a:spcAft>
              <a:buFont typeface="Arial"/>
              <a:buChar char="•"/>
            </a:pPr>
            <a:r>
              <a:rPr sz="1300" b="0" cap="all">
                <a:solidFill>
                  <a:srgbClr val="262626"/>
                </a:solidFill>
              </a:rPr>
              <a:t>Election and candidate management</a:t>
            </a:r>
          </a:p>
          <a:p>
            <a:pPr marL="228600" indent="-228600" algn="l">
              <a:spcAft>
                <a:spcPts val="700"/>
              </a:spcAft>
              <a:buFont typeface="Arial"/>
              <a:buChar char="•"/>
            </a:pPr>
            <a:r>
              <a:rPr sz="1300" b="0" cap="all">
                <a:solidFill>
                  <a:srgbClr val="262626"/>
                </a:solidFill>
              </a:rPr>
              <a:t>Controlled voting access</a:t>
            </a:r>
          </a:p>
          <a:p>
            <a:pPr marL="228600" indent="-228600" algn="l">
              <a:spcAft>
                <a:spcPts val="700"/>
              </a:spcAft>
              <a:buFont typeface="Arial"/>
              <a:buChar char="•"/>
            </a:pPr>
            <a:r>
              <a:rPr sz="1300" b="0" cap="all">
                <a:solidFill>
                  <a:srgbClr val="262626"/>
                </a:solidFill>
              </a:rPr>
              <a:t>Duplicate-vote prevention</a:t>
            </a:r>
          </a:p>
          <a:p>
            <a:pPr marL="228600" indent="-228600" algn="l">
              <a:spcAft>
                <a:spcPts val="700"/>
              </a:spcAft>
              <a:buFont typeface="Arial"/>
              <a:buChar char="•"/>
            </a:pPr>
            <a:r>
              <a:rPr sz="1300" b="0" cap="all">
                <a:solidFill>
                  <a:srgbClr val="262626"/>
                </a:solidFill>
              </a:rPr>
              <a:t>Microservice-based backend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3840480"/>
            <a:ext cx="4937760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cap="all">
                <a:solidFill>
                  <a:srgbClr val="355071"/>
                </a:solidFill>
              </a:rPr>
              <a:t>Team Contributions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766560" y="4251960"/>
          <a:ext cx="496519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4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200" b="1" cap="all">
                          <a:solidFill>
                            <a:srgbClr val="FFFFFF"/>
                          </a:solidFill>
                        </a:rPr>
                        <a:t>Team member</a:t>
                      </a:r>
                    </a:p>
                  </a:txBody>
                  <a:tcPr marL="73152" marR="73152" marT="27432" marB="27432" anchor="ctr">
                    <a:solidFill>
                      <a:srgbClr val="3550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cap="all">
                          <a:solidFill>
                            <a:srgbClr val="FFFFFF"/>
                          </a:solidFill>
                        </a:rPr>
                        <a:t>Contribution</a:t>
                      </a:r>
                    </a:p>
                  </a:txBody>
                  <a:tcPr marL="73152" marR="73152" marT="27432" marB="27432" anchor="ctr">
                    <a:solidFill>
                      <a:srgbClr val="3550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Keerthana G.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[to be added by team]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Thota Jhana Sri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[to be added by team]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Sutte Alekhya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[to be added by team]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47120" cy="731520"/>
          </a:xfrm>
        </p:spPr>
        <p:txBody>
          <a:bodyPr anchor="ctr"/>
          <a:lstStyle/>
          <a:p>
            <a:pPr algn="l"/>
            <a:r>
              <a:rPr sz="2800"/>
              <a:t>Conclusion &amp; Future Scope</a:t>
            </a:r>
          </a:p>
        </p:txBody>
      </p:sp>
      <p:sp>
        <p:nvSpPr>
          <p:cNvPr id="3" name="Conclusion card"/>
          <p:cNvSpPr/>
          <p:nvPr/>
        </p:nvSpPr>
        <p:spPr>
          <a:xfrm>
            <a:off x="457200" y="1097280"/>
            <a:ext cx="59436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uture scope card"/>
          <p:cNvSpPr/>
          <p:nvPr/>
        </p:nvSpPr>
        <p:spPr>
          <a:xfrm>
            <a:off x="6629400" y="1097280"/>
            <a:ext cx="5102352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5669280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cap="all">
                <a:solidFill>
                  <a:srgbClr val="355071"/>
                </a:solidFill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566928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262626"/>
                </a:solidFill>
              </a:rPr>
              <a:t>VotingHub provides a structured digital voting workflow combining: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2834640" cy="24688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marL="228600" indent="-228600" algn="l">
              <a:spcAft>
                <a:spcPts val="900"/>
              </a:spcAft>
              <a:buFont typeface="Arial"/>
              <a:buChar char="•"/>
            </a:pPr>
            <a:r>
              <a:rPr sz="1400" b="0" cap="all">
                <a:solidFill>
                  <a:srgbClr val="262626"/>
                </a:solidFill>
              </a:rPr>
              <a:t>React frontend</a:t>
            </a:r>
          </a:p>
          <a:p>
            <a:pPr marL="228600" indent="-228600" algn="l">
              <a:spcAft>
                <a:spcPts val="900"/>
              </a:spcAft>
              <a:buFont typeface="Arial"/>
              <a:buChar char="•"/>
            </a:pPr>
            <a:r>
              <a:rPr sz="1400" b="0" cap="all">
                <a:solidFill>
                  <a:srgbClr val="262626"/>
                </a:solidFill>
              </a:rPr>
              <a:t>Spring Boot backend</a:t>
            </a:r>
          </a:p>
          <a:p>
            <a:pPr marL="228600" indent="-228600" algn="l">
              <a:spcAft>
                <a:spcPts val="900"/>
              </a:spcAft>
              <a:buFont typeface="Arial"/>
              <a:buChar char="•"/>
            </a:pPr>
            <a:r>
              <a:rPr sz="1400" b="0" cap="all">
                <a:solidFill>
                  <a:srgbClr val="262626"/>
                </a:solidFill>
              </a:rPr>
              <a:t>MySQL database</a:t>
            </a:r>
          </a:p>
          <a:p>
            <a:pPr marL="228600" indent="-228600" algn="l">
              <a:spcAft>
                <a:spcPts val="900"/>
              </a:spcAft>
              <a:buFont typeface="Arial"/>
              <a:buChar char="•"/>
            </a:pPr>
            <a:r>
              <a:rPr sz="1400" b="0" cap="all">
                <a:solidFill>
                  <a:srgbClr val="262626"/>
                </a:solidFill>
              </a:rPr>
              <a:t>OTP-based 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011680"/>
            <a:ext cx="2880360" cy="24688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marL="228600" indent="-228600" algn="l">
              <a:spcAft>
                <a:spcPts val="900"/>
              </a:spcAft>
              <a:buFont typeface="Arial"/>
              <a:buChar char="•"/>
            </a:pPr>
            <a:r>
              <a:rPr sz="1400" b="0" cap="all">
                <a:solidFill>
                  <a:srgbClr val="262626"/>
                </a:solidFill>
              </a:rPr>
              <a:t>Controlled voting access</a:t>
            </a:r>
          </a:p>
          <a:p>
            <a:pPr marL="228600" indent="-228600" algn="l">
              <a:spcAft>
                <a:spcPts val="900"/>
              </a:spcAft>
              <a:buFont typeface="Arial"/>
              <a:buChar char="•"/>
            </a:pPr>
            <a:r>
              <a:rPr sz="1400" b="0" cap="all">
                <a:solidFill>
                  <a:srgbClr val="262626"/>
                </a:solidFill>
              </a:rPr>
              <a:t>Duplicate-vote prevention</a:t>
            </a:r>
          </a:p>
          <a:p>
            <a:pPr marL="228600" indent="-228600" algn="l">
              <a:spcAft>
                <a:spcPts val="900"/>
              </a:spcAft>
              <a:buFont typeface="Arial"/>
              <a:buChar char="•"/>
            </a:pPr>
            <a:r>
              <a:rPr sz="1400" b="0" cap="all">
                <a:solidFill>
                  <a:srgbClr val="262626"/>
                </a:solidFill>
              </a:rPr>
              <a:t>Election and result management</a:t>
            </a:r>
          </a:p>
          <a:p>
            <a:pPr marL="228600" indent="-228600" algn="l">
              <a:spcAft>
                <a:spcPts val="900"/>
              </a:spcAft>
              <a:buFont typeface="Arial"/>
              <a:buChar char="•"/>
            </a:pPr>
            <a:r>
              <a:rPr sz="1400" b="0" cap="all">
                <a:solidFill>
                  <a:srgbClr val="262626"/>
                </a:solidFill>
              </a:rPr>
              <a:t>CO6 microservices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143000"/>
            <a:ext cx="4846320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cap="all">
                <a:solidFill>
                  <a:srgbClr val="355071"/>
                </a:solidFill>
              </a:rPr>
              <a:t>Future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554480"/>
            <a:ext cx="4846320" cy="2926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400" b="0" cap="all">
                <a:solidFill>
                  <a:srgbClr val="262626"/>
                </a:solidFill>
              </a:rPr>
              <a:t>Real-time updates using WebSocket/SSE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400" b="0" cap="all">
                <a:solidFill>
                  <a:srgbClr val="262626"/>
                </a:solidFill>
              </a:rPr>
              <a:t>Docker/container deployment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400" b="0" cap="all">
                <a:solidFill>
                  <a:srgbClr val="262626"/>
                </a:solidFill>
              </a:rPr>
              <a:t>Cloud deployment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400" b="0" cap="all">
                <a:solidFill>
                  <a:srgbClr val="262626"/>
                </a:solidFill>
              </a:rPr>
              <a:t>Enhanced monitoring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400" b="0" cap="all">
                <a:solidFill>
                  <a:srgbClr val="262626"/>
                </a:solidFill>
              </a:rPr>
              <a:t>Stronger identity-provider integration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400" b="0" cap="all">
                <a:solidFill>
                  <a:srgbClr val="262626"/>
                </a:solidFill>
              </a:rPr>
              <a:t>Further security enhancements</a:t>
            </a:r>
          </a:p>
        </p:txBody>
      </p:sp>
      <p:sp>
        <p:nvSpPr>
          <p:cNvPr id="11" name="GitHub and team card"/>
          <p:cNvSpPr/>
          <p:nvPr/>
        </p:nvSpPr>
        <p:spPr>
          <a:xfrm>
            <a:off x="457200" y="4754880"/>
            <a:ext cx="51206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5035775"/>
            <a:ext cx="4937760" cy="84638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>
              <a:spcAft>
                <a:spcPts val="600"/>
              </a:spcAft>
            </a:pPr>
            <a:r>
              <a:rPr sz="1300" b="1" dirty="0">
                <a:solidFill>
                  <a:srgbClr val="262626"/>
                </a:solidFill>
              </a:rPr>
              <a:t>GitHub: </a:t>
            </a:r>
            <a:r>
              <a:rPr lang="en-IN" sz="1300" b="1" dirty="0">
                <a:solidFill>
                  <a:srgbClr val="262626"/>
                </a:solidFill>
                <a:hlinkClick r:id="rId2"/>
              </a:rPr>
              <a:t>https://github.com/Jhanasri-thota/DBS-DS_PROJECT</a:t>
            </a:r>
            <a:endParaRPr lang="en-IN" sz="1300" b="1" dirty="0">
              <a:solidFill>
                <a:srgbClr val="262626"/>
              </a:solidFill>
            </a:endParaRP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262626"/>
                </a:solidFill>
              </a:rPr>
              <a:t>Team No. 9  |  Section 12  |  25CS1302E</a:t>
            </a:r>
          </a:p>
          <a:p>
            <a:pPr algn="l">
              <a:spcAft>
                <a:spcPts val="600"/>
              </a:spcAft>
            </a:pPr>
            <a:r>
              <a:rPr sz="1300" b="0" dirty="0">
                <a:solidFill>
                  <a:srgbClr val="262626"/>
                </a:solidFill>
              </a:rPr>
              <a:t>Keerthana G.  •  Thota Jhana Sri  •  </a:t>
            </a:r>
            <a:r>
              <a:rPr sz="1300" b="0" dirty="0" err="1">
                <a:solidFill>
                  <a:srgbClr val="262626"/>
                </a:solidFill>
              </a:rPr>
              <a:t>Sutte</a:t>
            </a:r>
            <a:r>
              <a:rPr sz="1300" b="0" dirty="0">
                <a:solidFill>
                  <a:srgbClr val="262626"/>
                </a:solidFill>
              </a:rPr>
              <a:t> Alekhya</a:t>
            </a:r>
          </a:p>
        </p:txBody>
      </p:sp>
      <p:sp>
        <p:nvSpPr>
          <p:cNvPr id="13" name="QR code placeholder"/>
          <p:cNvSpPr/>
          <p:nvPr/>
        </p:nvSpPr>
        <p:spPr>
          <a:xfrm>
            <a:off x="5806440" y="4754880"/>
            <a:ext cx="14173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06440" y="4754880"/>
            <a:ext cx="14173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7F7F7F"/>
                </a:solidFill>
              </a:rPr>
              <a:t>QR CODE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7F7F7F"/>
                </a:solidFill>
              </a:rPr>
              <a:t>(insert)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4973662"/>
            <a:ext cx="4233672" cy="979755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200" b="1" dirty="0">
                <a:solidFill>
                  <a:srgbClr val="355071"/>
                </a:solidFill>
              </a:rPr>
              <a:t>THANK YOU</a:t>
            </a:r>
          </a:p>
          <a:p>
            <a:pPr algn="ctr">
              <a:spcAft>
                <a:spcPts val="200"/>
              </a:spcAft>
            </a:pPr>
            <a:endParaRPr sz="2400" b="1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{4BFD07D1-45E2-4731-99CF-6C2AF7303763}TF62d0d592-7ac2-4846-a919-75806e8bead47c13978d-7a72a11451b2</Template>
  <TotalTime>43</TotalTime>
  <Words>903</Words>
  <Application>Microsoft Office PowerPoint</Application>
  <PresentationFormat>Widescreen</PresentationFormat>
  <Paragraphs>248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Schoolbook</vt:lpstr>
      <vt:lpstr>Tw Cen MT</vt:lpstr>
      <vt:lpstr>Droplet</vt:lpstr>
      <vt:lpstr>VotingHub – Online Voting System</vt:lpstr>
      <vt:lpstr>Introduction &amp; Objectives</vt:lpstr>
      <vt:lpstr>Final System Architecture</vt:lpstr>
      <vt:lpstr>Database Design</vt:lpstr>
      <vt:lpstr>Authentication &amp; Security</vt:lpstr>
      <vt:lpstr>Voting Workflow &amp; Duplicate Prevention</vt:lpstr>
      <vt:lpstr>Final Implementation – Voter Interface</vt:lpstr>
      <vt:lpstr>Admin Module &amp; API / Microservice Testing</vt:lpstr>
      <vt:lpstr>Testing, Results &amp; Team Contribution</vt:lpstr>
      <vt:lpstr>Conclusion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Jhanasri Thota</dc:creator>
  <cp:lastModifiedBy>Jhanasri Thota</cp:lastModifiedBy>
  <cp:revision>2</cp:revision>
  <dcterms:created xsi:type="dcterms:W3CDTF">2026-08-26T03:18:19Z</dcterms:created>
  <dcterms:modified xsi:type="dcterms:W3CDTF">2026-10-02T17:56:46Z</dcterms:modified>
</cp:coreProperties>
</file>